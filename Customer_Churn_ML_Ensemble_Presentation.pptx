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28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40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600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58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2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61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85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2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9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80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3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72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Customer Churn Prediction using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Ensemble Learning: Bagging, Boosting and Stacking</a:t>
            </a:r>
          </a:p>
          <a:p>
            <a:pPr>
              <a:spcAft>
                <a:spcPts val="800"/>
              </a:spcAft>
              <a:defRPr sz="2100"/>
            </a:pPr>
            <a:r>
              <a:t>Presented By: Pranav Thorat</a:t>
            </a:r>
          </a:p>
          <a:p>
            <a:pPr>
              <a:spcAft>
                <a:spcPts val="800"/>
              </a:spcAft>
              <a:defRPr sz="2100"/>
            </a:pPr>
            <a:r>
              <a:t>Class: MSc Computer Science</a:t>
            </a:r>
          </a:p>
          <a:p>
            <a:pPr>
              <a:spcAft>
                <a:spcPts val="800"/>
              </a:spcAft>
              <a:defRPr sz="2100"/>
            </a:pPr>
            <a:r>
              <a:t>Subject: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Problem Statement &amp;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Problem Statement: Predict whether a customer will leave the company/service based on customer information.</a:t>
            </a:r>
          </a:p>
          <a:p>
            <a:pPr>
              <a:spcAft>
                <a:spcPts val="800"/>
              </a:spcAft>
              <a:defRPr sz="2100"/>
            </a:pPr>
            <a:r>
              <a:t>Objectives:</a:t>
            </a:r>
          </a:p>
          <a:p>
            <a:pPr>
              <a:spcAft>
                <a:spcPts val="800"/>
              </a:spcAft>
              <a:defRPr sz="2100"/>
            </a:pPr>
            <a:r>
              <a:t>• Predict customer churn</a:t>
            </a:r>
          </a:p>
          <a:p>
            <a:pPr>
              <a:spcAft>
                <a:spcPts val="800"/>
              </a:spcAft>
              <a:defRPr sz="2100"/>
            </a:pPr>
            <a:r>
              <a:t>• Train different Machine Learning models</a:t>
            </a:r>
          </a:p>
          <a:p>
            <a:pPr>
              <a:spcAft>
                <a:spcPts val="800"/>
              </a:spcAft>
              <a:defRPr sz="2100"/>
            </a:pPr>
            <a:r>
              <a:t>• Apply Ensemble Learning techniques</a:t>
            </a:r>
          </a:p>
          <a:p>
            <a:pPr>
              <a:spcAft>
                <a:spcPts val="800"/>
              </a:spcAft>
              <a:defRPr sz="2100"/>
            </a:pPr>
            <a:r>
              <a:t>• Compare model performance</a:t>
            </a:r>
          </a:p>
          <a:p>
            <a:pPr>
              <a:spcAft>
                <a:spcPts val="800"/>
              </a:spcAft>
              <a:defRPr sz="2100"/>
            </a:pPr>
            <a:r>
              <a:t>• Find the best prediction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Dataset: Telco Customer Churn Dataset</a:t>
            </a:r>
          </a:p>
          <a:p>
            <a:pPr>
              <a:spcAft>
                <a:spcPts val="800"/>
              </a:spcAft>
              <a:defRPr sz="2100"/>
            </a:pPr>
            <a:r>
              <a:t>• Total Customers: 7043</a:t>
            </a:r>
          </a:p>
          <a:p>
            <a:pPr>
              <a:spcAft>
                <a:spcPts val="800"/>
              </a:spcAft>
              <a:defRPr sz="2100"/>
            </a:pPr>
            <a:r>
              <a:t>• Total Columns: 21</a:t>
            </a:r>
          </a:p>
          <a:p>
            <a:pPr>
              <a:spcAft>
                <a:spcPts val="800"/>
              </a:spcAft>
              <a:defRPr sz="2100"/>
            </a:pPr>
            <a:r>
              <a:t>• Target Variable: Churn (Yes / No)</a:t>
            </a:r>
          </a:p>
          <a:p>
            <a:pPr>
              <a:spcAft>
                <a:spcPts val="800"/>
              </a:spcAft>
              <a:defRPr sz="2100"/>
            </a:pPr>
            <a:r>
              <a:t>Important Features:</a:t>
            </a:r>
          </a:p>
          <a:p>
            <a:pPr>
              <a:spcAft>
                <a:spcPts val="800"/>
              </a:spcAft>
              <a:defRPr sz="2100"/>
            </a:pPr>
            <a:r>
              <a:t>• Tenure  • Monthly Charges  • Total Charges</a:t>
            </a:r>
          </a:p>
          <a:p>
            <a:pPr>
              <a:spcAft>
                <a:spcPts val="800"/>
              </a:spcAft>
              <a:defRPr sz="2100"/>
            </a:pPr>
            <a:r>
              <a:t>• Contract  • Internet Service  • Payment Method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Data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1. Load dataset using Pandas</a:t>
            </a:r>
          </a:p>
          <a:p>
            <a:pPr>
              <a:spcAft>
                <a:spcPts val="800"/>
              </a:spcAft>
              <a:defRPr sz="2100"/>
            </a:pPr>
            <a:r>
              <a:t>2. Remove customerID</a:t>
            </a:r>
          </a:p>
          <a:p>
            <a:pPr>
              <a:spcAft>
                <a:spcPts val="800"/>
              </a:spcAft>
              <a:defRPr sz="2100"/>
            </a:pPr>
            <a:r>
              <a:t>3. Convert TotalCharges into numeric format</a:t>
            </a:r>
          </a:p>
          <a:p>
            <a:pPr>
              <a:spcAft>
                <a:spcPts val="800"/>
              </a:spcAft>
              <a:defRPr sz="2100"/>
            </a:pPr>
            <a:r>
              <a:t>4. Remove missing values</a:t>
            </a:r>
          </a:p>
          <a:p>
            <a:pPr>
              <a:spcAft>
                <a:spcPts val="800"/>
              </a:spcAft>
              <a:defRPr sz="2100"/>
            </a:pPr>
            <a:r>
              <a:t>5. Apply Label Encoding to categorical values</a:t>
            </a:r>
          </a:p>
          <a:p>
            <a:pPr>
              <a:spcAft>
                <a:spcPts val="800"/>
              </a:spcAft>
              <a:defRPr sz="2100"/>
            </a:pPr>
            <a:r>
              <a:t>6. Split data into 80% training and 20%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Three Machine Learning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1. Logistic Regression</a:t>
            </a:r>
          </a:p>
          <a:p>
            <a:pPr>
              <a:spcAft>
                <a:spcPts val="800"/>
              </a:spcAft>
              <a:defRPr sz="2100"/>
            </a:pPr>
            <a:r>
              <a:t>   Predicts the probability of customer churn.</a:t>
            </a:r>
          </a:p>
          <a:p>
            <a:pPr>
              <a:spcAft>
                <a:spcPts val="800"/>
              </a:spcAft>
              <a:defRPr sz="2100"/>
            </a:pPr>
            <a:r>
              <a:t>2. Decision Tree</a:t>
            </a:r>
          </a:p>
          <a:p>
            <a:pPr>
              <a:spcAft>
                <a:spcPts val="800"/>
              </a:spcAft>
              <a:defRPr sz="2100"/>
            </a:pPr>
            <a:r>
              <a:t>   Uses conditions/questions to reach a final prediction.</a:t>
            </a:r>
          </a:p>
          <a:p>
            <a:pPr>
              <a:spcAft>
                <a:spcPts val="800"/>
              </a:spcAft>
              <a:defRPr sz="2100"/>
            </a:pPr>
            <a:r>
              <a:t>3. K-Nearest Neighbors (KNN)</a:t>
            </a:r>
          </a:p>
          <a:p>
            <a:pPr>
              <a:spcAft>
                <a:spcPts val="800"/>
              </a:spcAft>
              <a:defRPr sz="2100"/>
            </a:pPr>
            <a:r>
              <a:t>   Uses similar customers and majority voting for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Ensemble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Ensemble Learning combines multiple models to improve prediction performance.</a:t>
            </a:r>
          </a:p>
          <a:p>
            <a:pPr>
              <a:spcAft>
                <a:spcPts val="800"/>
              </a:spcAft>
              <a:defRPr sz="2100"/>
            </a:pPr>
            <a:r>
              <a:t>Techniques used:</a:t>
            </a:r>
          </a:p>
          <a:p>
            <a:pPr>
              <a:spcAft>
                <a:spcPts val="800"/>
              </a:spcAft>
              <a:defRPr sz="2100"/>
            </a:pPr>
            <a:r>
              <a:t>• Bagging → Random Forest</a:t>
            </a:r>
          </a:p>
          <a:p>
            <a:pPr>
              <a:spcAft>
                <a:spcPts val="800"/>
              </a:spcAft>
              <a:defRPr sz="2100"/>
            </a:pPr>
            <a:r>
              <a:t>• Boosting → Gradient Boosting</a:t>
            </a:r>
          </a:p>
          <a:p>
            <a:pPr>
              <a:spcAft>
                <a:spcPts val="800"/>
              </a:spcAft>
              <a:defRPr sz="2100"/>
            </a:pPr>
            <a:r>
              <a:t>• Stacking → Logistic Regression + Decision Tree + KNN</a:t>
            </a:r>
          </a:p>
          <a:p>
            <a:pPr>
              <a:spcAft>
                <a:spcPts val="800"/>
              </a:spcAft>
              <a:defRPr sz="2100"/>
            </a:pPr>
            <a:r>
              <a:t>In Stacking, a final Logistic Regression model combines the predictions.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Bagging, Boosting &amp; Stacking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BAGGING</a:t>
            </a:r>
          </a:p>
          <a:p>
            <a:pPr>
              <a:spcAft>
                <a:spcPts val="800"/>
              </a:spcAft>
              <a:defRPr sz="2100"/>
            </a:pPr>
            <a:r>
              <a:t>Multiple models work independently and their results are combined.</a:t>
            </a:r>
          </a:p>
          <a:p>
            <a:pPr>
              <a:spcAft>
                <a:spcPts val="800"/>
              </a:spcAft>
              <a:defRPr sz="2100"/>
            </a:pPr>
            <a:endParaRPr/>
          </a:p>
          <a:p>
            <a:pPr>
              <a:spcAft>
                <a:spcPts val="800"/>
              </a:spcAft>
              <a:defRPr sz="2100"/>
            </a:pPr>
            <a:r>
              <a:t>BOOSTING</a:t>
            </a:r>
          </a:p>
          <a:p>
            <a:pPr>
              <a:spcAft>
                <a:spcPts val="800"/>
              </a:spcAft>
              <a:defRPr sz="2100"/>
            </a:pPr>
            <a:r>
              <a:t>Models are trained sequentially, with later models improving previous errors.</a:t>
            </a:r>
          </a:p>
          <a:p>
            <a:pPr>
              <a:spcAft>
                <a:spcPts val="800"/>
              </a:spcAft>
              <a:defRPr sz="2100"/>
            </a:pPr>
            <a:endParaRPr/>
          </a:p>
          <a:p>
            <a:pPr>
              <a:spcAft>
                <a:spcPts val="800"/>
              </a:spcAft>
              <a:defRPr sz="2100"/>
            </a:pPr>
            <a:r>
              <a:t>STACKING</a:t>
            </a:r>
          </a:p>
          <a:p>
            <a:pPr>
              <a:spcAft>
                <a:spcPts val="800"/>
              </a:spcAft>
              <a:defRPr sz="2100"/>
            </a:pPr>
            <a:r>
              <a:t>Different models give predictions which are combined by a final meta-model.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Implementation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Customer Churn Dataset</a:t>
            </a:r>
          </a:p>
          <a:p>
            <a:pPr>
              <a:spcAft>
                <a:spcPts val="800"/>
              </a:spcAft>
              <a:defRPr sz="1800"/>
            </a:pPr>
            <a:r>
              <a:t>        ↓</a:t>
            </a:r>
          </a:p>
          <a:p>
            <a:pPr>
              <a:spcAft>
                <a:spcPts val="800"/>
              </a:spcAft>
              <a:defRPr sz="1800"/>
            </a:pPr>
            <a:r>
              <a:t>Data Preprocessing</a:t>
            </a:r>
          </a:p>
          <a:p>
            <a:pPr>
              <a:spcAft>
                <a:spcPts val="800"/>
              </a:spcAft>
              <a:defRPr sz="1800"/>
            </a:pPr>
            <a:r>
              <a:t>        ↓</a:t>
            </a:r>
          </a:p>
          <a:p>
            <a:pPr>
              <a:spcAft>
                <a:spcPts val="800"/>
              </a:spcAft>
              <a:defRPr sz="1800"/>
            </a:pPr>
            <a:r>
              <a:t>Train / Test Split</a:t>
            </a:r>
          </a:p>
          <a:p>
            <a:pPr>
              <a:spcAft>
                <a:spcPts val="800"/>
              </a:spcAft>
              <a:defRPr sz="1800"/>
            </a:pPr>
            <a:r>
              <a:t>        ↓</a:t>
            </a:r>
          </a:p>
          <a:p>
            <a:pPr>
              <a:spcAft>
                <a:spcPts val="800"/>
              </a:spcAft>
              <a:defRPr sz="1800"/>
            </a:pPr>
            <a:r>
              <a:t>Logistic Regression | Decision Tree | KNN</a:t>
            </a:r>
          </a:p>
          <a:p>
            <a:pPr>
              <a:spcAft>
                <a:spcPts val="800"/>
              </a:spcAft>
              <a:defRPr sz="1800"/>
            </a:pPr>
            <a:r>
              <a:t>        ↓</a:t>
            </a:r>
          </a:p>
          <a:p>
            <a:pPr>
              <a:spcAft>
                <a:spcPts val="800"/>
              </a:spcAft>
              <a:defRPr sz="1800"/>
            </a:pPr>
            <a:r>
              <a:t>Bagging | Boosting | Stacking</a:t>
            </a:r>
          </a:p>
          <a:p>
            <a:pPr>
              <a:spcAft>
                <a:spcPts val="800"/>
              </a:spcAft>
              <a:defRPr sz="1800"/>
            </a:pPr>
            <a:r>
              <a:t>        ↓</a:t>
            </a:r>
          </a:p>
          <a:p>
            <a:pPr>
              <a:spcAft>
                <a:spcPts val="800"/>
              </a:spcAft>
              <a:defRPr sz="1800"/>
            </a:pPr>
            <a:r>
              <a:t>Compare Accuracy &amp; F1 Score</a:t>
            </a:r>
          </a:p>
          <a:p>
            <a:pPr>
              <a:spcAft>
                <a:spcPts val="800"/>
              </a:spcAft>
              <a:defRPr sz="1800"/>
            </a:pPr>
            <a:r>
              <a:t>        ↓</a:t>
            </a:r>
          </a:p>
          <a:p>
            <a:pPr>
              <a:spcAft>
                <a:spcPts val="800"/>
              </a:spcAft>
              <a:defRPr sz="1800" b="1"/>
            </a:pPr>
            <a:r>
              <a:t>Best Model: Gradient Boosting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Model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340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b="1" dirty="0"/>
              <a:t>Model                              </a:t>
            </a:r>
            <a:r>
              <a:rPr lang="en-US" b="1" dirty="0"/>
              <a:t>         </a:t>
            </a:r>
            <a:r>
              <a:rPr b="1" dirty="0"/>
              <a:t>Accuracy       F1 Score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Logistic Regression                 78.54%         0.551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Decision Tree                       </a:t>
            </a:r>
            <a:r>
              <a:rPr lang="en-US" dirty="0"/>
              <a:t>    </a:t>
            </a:r>
            <a:r>
              <a:rPr dirty="0"/>
              <a:t>72.49%         0.501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KNN                                 </a:t>
            </a:r>
            <a:r>
              <a:rPr lang="en-US" dirty="0"/>
              <a:t>          </a:t>
            </a:r>
            <a:r>
              <a:rPr dirty="0"/>
              <a:t>77.26%         0.509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Random Forest (Bagging)      79.25%         0.556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Gradient Boosting                   79.53%         0.561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Stacking                            </a:t>
            </a:r>
            <a:r>
              <a:rPr lang="en-US" dirty="0"/>
              <a:t>        </a:t>
            </a:r>
            <a:r>
              <a:rPr lang="en-IN" dirty="0"/>
              <a:t>7</a:t>
            </a:r>
            <a:r>
              <a:rPr dirty="0"/>
              <a:t>9.46%         0.559</a:t>
            </a:r>
          </a:p>
          <a:p>
            <a:pPr>
              <a:spcAft>
                <a:spcPts val="800"/>
              </a:spcAft>
              <a:defRPr sz="1800"/>
            </a:pPr>
            <a:endParaRPr dirty="0"/>
          </a:p>
          <a:p>
            <a:pPr>
              <a:spcAft>
                <a:spcPts val="800"/>
              </a:spcAft>
              <a:defRPr sz="1800" b="1"/>
            </a:pPr>
            <a:r>
              <a:rPr dirty="0"/>
              <a:t>Best Model: Gradient Boosting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828800" cy="7315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3395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rPr dirty="0"/>
              <a:t>• Customer churn prediction was successfully implemented.</a:t>
            </a:r>
          </a:p>
          <a:p>
            <a:pPr>
              <a:spcAft>
                <a:spcPts val="800"/>
              </a:spcAft>
              <a:defRPr sz="2100"/>
            </a:pPr>
            <a:r>
              <a:rPr dirty="0"/>
              <a:t>• Three basic ML models were trained.</a:t>
            </a:r>
          </a:p>
          <a:p>
            <a:pPr>
              <a:spcAft>
                <a:spcPts val="800"/>
              </a:spcAft>
              <a:defRPr sz="2100"/>
            </a:pPr>
            <a:r>
              <a:rPr dirty="0"/>
              <a:t>• Bagging, Boosting and Stacking were applied.</a:t>
            </a:r>
          </a:p>
          <a:p>
            <a:pPr>
              <a:spcAft>
                <a:spcPts val="800"/>
              </a:spcAft>
              <a:defRPr sz="2100"/>
            </a:pPr>
            <a:r>
              <a:rPr dirty="0"/>
              <a:t>• Accuracy and F1 Score were used for comparison.</a:t>
            </a:r>
          </a:p>
          <a:p>
            <a:pPr>
              <a:spcAft>
                <a:spcPts val="800"/>
              </a:spcAft>
              <a:defRPr sz="2100"/>
            </a:pPr>
            <a:r>
              <a:rPr dirty="0"/>
              <a:t>• Gradient Boosting performed best with 79.53% accuracy and 0.561 F1 Score.</a:t>
            </a:r>
          </a:p>
          <a:p>
            <a:pPr>
              <a:spcAft>
                <a:spcPts val="800"/>
              </a:spcAft>
              <a:defRPr sz="2100"/>
            </a:pPr>
            <a:endParaRPr dirty="0"/>
          </a:p>
          <a:p>
            <a:pPr>
              <a:spcAft>
                <a:spcPts val="800"/>
              </a:spcAft>
              <a:defRPr sz="2100" b="1"/>
            </a:pPr>
            <a:r>
              <a:rPr dirty="0"/>
              <a:t>Thank You</a:t>
            </a:r>
          </a:p>
          <a:p>
            <a:pPr>
              <a:spcAft>
                <a:spcPts val="800"/>
              </a:spcAft>
              <a:defRPr sz="21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</TotalTime>
  <Words>444</Words>
  <Application>Microsoft Office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Thorat</cp:lastModifiedBy>
  <cp:revision>4</cp:revision>
  <dcterms:created xsi:type="dcterms:W3CDTF">2013-01-27T09:14:16Z</dcterms:created>
  <dcterms:modified xsi:type="dcterms:W3CDTF">2026-10-07T03:31:26Z</dcterms:modified>
  <cp:category/>
</cp:coreProperties>
</file>